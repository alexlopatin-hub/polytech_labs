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50" d="100"/>
          <a:sy n="150" d="100"/>
        </p:scale>
        <p:origin x="108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8022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20441"/>
            <a:ext cx="10566400" cy="4424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028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3600" dirty="0">
                <a:solidFill>
                  <a:srgbClr val="1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36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20441"/>
            <a:ext cx="10566400" cy="4424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1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2499420"/>
            <a:ext cx="10883392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460"/>
              </a:lnSpc>
              <a:buNone/>
            </a:pPr>
            <a:r>
              <a:rPr lang="en-US" sz="5200" b="0" i="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Мышь в лабиринте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812800" y="3446760"/>
            <a:ext cx="1088339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dirty="0">
                <a:solidFill>
                  <a:srgbClr val="F2B134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ООП на языке на Java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12800" y="4091880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C9C6D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Лабораторная работа 2,  Лопатин А.В. · гр. 5130902/40202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Проблема и подход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89508" y="2260600"/>
            <a:ext cx="5076127" cy="230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292" indent="-177292" algn="l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Мышь ищет сыр в лабиринте и не знает его карты</a:t>
            </a:r>
            <a:endParaRPr lang="en-US" sz="1600" dirty="0"/>
          </a:p>
          <a:p>
            <a:pPr marL="177292" indent="-177292" algn="l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На каждом шаге она выбирает направление, а среда сообщает выигрыш или проигрыш: это подкрепление</a:t>
            </a:r>
            <a:endParaRPr lang="en-US" sz="1600" dirty="0"/>
          </a:p>
          <a:p>
            <a:pPr marL="177292" indent="-177292" algn="l">
              <a:lnSpc>
                <a:spcPts val="2240"/>
              </a:lnSpc>
              <a:buSzPct val="100000"/>
              <a:buChar char="•"/>
            </a:pP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Цель: найти маршрут с максимальной суммарной наградой, к сыру через воду и в обход тока</a:t>
            </a:r>
            <a:endParaRPr lang="en-US" sz="16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7BDDEAFF-834A-B396-9280-6B0E210579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786" t="2296" r="12871" b="5893"/>
          <a:stretch>
            <a:fillRect/>
          </a:stretch>
        </p:blipFill>
        <p:spPr>
          <a:xfrm>
            <a:off x="6988413" y="1854200"/>
            <a:ext cx="3508138" cy="4070350"/>
          </a:xfrm>
          <a:prstGeom prst="roundRect">
            <a:avLst>
              <a:gd name="adj" fmla="val 6012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Награды среды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623616"/>
            <a:ext cx="2482850" cy="2238375"/>
          </a:xfrm>
          <a:prstGeom prst="roundRect">
            <a:avLst>
              <a:gd name="adj" fmla="val 4397"/>
            </a:avLst>
          </a:prstGeom>
          <a:solidFill>
            <a:srgbClr val="FFFFFF"/>
          </a:solidFill>
          <a:ln w="6350">
            <a:solidFill>
              <a:srgbClr val="E0DCC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1073150" y="1880791"/>
            <a:ext cx="2027555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B36B0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+10^7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073150" y="2439591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Сыр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73150" y="2833291"/>
            <a:ext cx="20275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3D425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Главная награда, эпизод заканчивается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508375" y="1623616"/>
            <a:ext cx="2482850" cy="2238375"/>
          </a:xfrm>
          <a:prstGeom prst="roundRect">
            <a:avLst>
              <a:gd name="adj" fmla="val 4397"/>
            </a:avLst>
          </a:prstGeom>
          <a:solidFill>
            <a:srgbClr val="FFFFFF"/>
          </a:solidFill>
          <a:ln w="6350">
            <a:solidFill>
              <a:srgbClr val="E0DCC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8" name="Text 6"/>
          <p:cNvSpPr/>
          <p:nvPr/>
        </p:nvSpPr>
        <p:spPr>
          <a:xfrm>
            <a:off x="3765550" y="1880791"/>
            <a:ext cx="2027555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B36B0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+10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765550" y="2439591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Вода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65550" y="2833291"/>
            <a:ext cx="2027555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3D425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Небольшая награда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00775" y="1623616"/>
            <a:ext cx="2482850" cy="2238375"/>
          </a:xfrm>
          <a:prstGeom prst="roundRect">
            <a:avLst>
              <a:gd name="adj" fmla="val 4397"/>
            </a:avLst>
          </a:prstGeom>
          <a:solidFill>
            <a:srgbClr val="FFFFFF"/>
          </a:solidFill>
          <a:ln w="6350">
            <a:solidFill>
              <a:srgbClr val="E0DCC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6457950" y="1880791"/>
            <a:ext cx="2027555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B36B0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−10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457950" y="2439591"/>
            <a:ext cx="202755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Шок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57950" y="2833291"/>
            <a:ext cx="2027555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3D425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Штраф за травму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893175" y="1623616"/>
            <a:ext cx="2482850" cy="2238375"/>
          </a:xfrm>
          <a:prstGeom prst="roundRect">
            <a:avLst>
              <a:gd name="adj" fmla="val 4397"/>
            </a:avLst>
          </a:prstGeom>
          <a:solidFill>
            <a:srgbClr val="FFFFFF"/>
          </a:solidFill>
          <a:ln w="6350">
            <a:solidFill>
              <a:srgbClr val="E0DCC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4"/>
          <p:cNvSpPr/>
          <p:nvPr/>
        </p:nvSpPr>
        <p:spPr>
          <a:xfrm>
            <a:off x="9150350" y="1880791"/>
            <a:ext cx="2027555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B36B00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−1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150350" y="2439591"/>
            <a:ext cx="22225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Пустая клетка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50350" y="2833291"/>
            <a:ext cx="2027555" cy="7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3D4255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Штраф за каждый шаг, чтобы путь был короче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12800" y="4169966"/>
            <a:ext cx="10883392" cy="3168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Агент учится максимизировать сумму наград за эпизод, а не отдельный выигрыш.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Q-обучение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620441"/>
            <a:ext cx="10883392" cy="454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80"/>
              </a:lnSpc>
              <a:buNone/>
            </a:pPr>
            <a:r>
              <a:rPr lang="en-US" sz="2600" dirty="0">
                <a:solidFill>
                  <a:srgbClr val="F2B134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Q(s,a) += α · (r + γ · max Q(s′,·) − Q(s,a))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12800" y="2354461"/>
            <a:ext cx="10883392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C9C6D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Q-таблица хранит ценность каждого из 4 действий в каждой клетке лабиринта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2916436"/>
            <a:ext cx="348823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α = 0,5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800" y="3284736"/>
            <a:ext cx="3488233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C9C6D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Скорость обучения: насколько новый опыт вытесняет старый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02634" y="2916436"/>
            <a:ext cx="348833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γ = 0,9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402634" y="3284736"/>
            <a:ext cx="3488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C9C6D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Дисконт: насколько важны награды в будущем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992566" y="2916436"/>
            <a:ext cx="348823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ε = 0,1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992566" y="3284736"/>
            <a:ext cx="3488233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C9C6D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Доля случайных ходов, чтобы исследовать лабиринт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Архитектура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89508" y="2545060"/>
            <a:ext cx="4630759" cy="17321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292" indent="-177292" algn="l">
              <a:lnSpc>
                <a:spcPts val="2240"/>
              </a:lnSpc>
              <a:buSzPct val="100000"/>
              <a:buChar char="•"/>
            </a:pPr>
            <a:r>
              <a:rPr lang="en-US" sz="16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Maze, MazeGenerator</a:t>
            </a: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: лабиринт и его генерация</a:t>
            </a:r>
            <a:endParaRPr lang="en-US" sz="1600" dirty="0"/>
          </a:p>
          <a:p>
            <a:pPr marL="177292" indent="-177292" algn="l">
              <a:lnSpc>
                <a:spcPts val="2240"/>
              </a:lnSpc>
              <a:buSzPct val="100000"/>
              <a:buChar char="•"/>
            </a:pPr>
            <a:r>
              <a:rPr lang="en-US" sz="16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Environment</a:t>
            </a: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: шаги, награды, эпохи</a:t>
            </a:r>
            <a:endParaRPr lang="en-US" sz="1600" dirty="0"/>
          </a:p>
          <a:p>
            <a:pPr marL="177292" indent="-177292" algn="l">
              <a:lnSpc>
                <a:spcPts val="2240"/>
              </a:lnSpc>
              <a:buSzPct val="100000"/>
              <a:buChar char="•"/>
            </a:pPr>
            <a:r>
              <a:rPr lang="en-US" sz="16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Agent, Policy</a:t>
            </a: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: выбор действия и Q-таблица</a:t>
            </a:r>
            <a:endParaRPr lang="en-US" sz="1600" dirty="0"/>
          </a:p>
          <a:p>
            <a:pPr marL="177292" indent="-177292" algn="l">
              <a:lnSpc>
                <a:spcPts val="2240"/>
              </a:lnSpc>
              <a:buSzPct val="100000"/>
              <a:buChar char="•"/>
            </a:pPr>
            <a:r>
              <a:rPr lang="en-US" sz="1600" b="1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MazeTrainerFrame, MazePanel</a:t>
            </a: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: окно и отрисовка</a:t>
            </a:r>
            <a:endParaRPr lang="en-US" sz="16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6B0C0E1-72CC-356E-96D6-6788BD159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499" y="1464733"/>
            <a:ext cx="4294752" cy="3928533"/>
          </a:xfrm>
          <a:prstGeom prst="roundRect">
            <a:avLst>
              <a:gd name="adj" fmla="val 229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Один шаг обучения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65429" y="1626592"/>
            <a:ext cx="4492371" cy="36048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Среда находит 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доступные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ходы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А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гент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выбирает 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действие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ε-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жадно</a:t>
            </a:r>
            <a:endParaRPr lang="ru-RU" sz="2000" dirty="0">
              <a:solidFill>
                <a:srgbClr val="1B1F3A"/>
              </a:solidFill>
              <a:latin typeface="Georgia" pitchFamily="18" charset="0"/>
              <a:ea typeface="Georgia" pitchFamily="18" charset="-122"/>
              <a:cs typeface="Georgia" pitchFamily="18" charset="-120"/>
            </a:endParaRP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С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реда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выдаёт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награду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</a:t>
            </a:r>
          </a:p>
          <a:p>
            <a:pPr marL="342900" indent="-342900" algn="l">
              <a:lnSpc>
                <a:spcPct val="150000"/>
              </a:lnSpc>
              <a:buFont typeface="+mj-lt"/>
              <a:buAutoNum type="arabicPeriod"/>
            </a:pP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Q-</a:t>
            </a:r>
            <a:r>
              <a:rPr lang="en-US" sz="2000" dirty="0" err="1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таблица</a:t>
            </a:r>
            <a:r>
              <a:rPr lang="en-US" sz="20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 обновляется.</a:t>
            </a:r>
            <a:endParaRPr lang="en-US" sz="2000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7254567-1044-3F4C-5791-AF9D5FA543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1180" y="812800"/>
            <a:ext cx="5076582" cy="5573521"/>
          </a:xfrm>
          <a:prstGeom prst="roundRect">
            <a:avLst>
              <a:gd name="adj" fmla="val 4967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Генерация лабиринта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49511" y="2687241"/>
            <a:ext cx="5116124" cy="14477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7289" indent="-217289" algn="l">
              <a:lnSpc>
                <a:spcPts val="2240"/>
              </a:lnSpc>
              <a:buSzPct val="100000"/>
              <a:buFontTx/>
              <a:buAutoNum type="arabicPeriod"/>
            </a:pP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Сетка (2·rows+1) × (2·cols+1): комнаты и стены</a:t>
            </a:r>
            <a:endParaRPr lang="en-US" sz="1600" dirty="0"/>
          </a:p>
          <a:p>
            <a:pPr marL="217289" indent="-217289" algn="l">
              <a:lnSpc>
                <a:spcPts val="2240"/>
              </a:lnSpc>
              <a:buSzPct val="100000"/>
              <a:buFontTx/>
              <a:buAutoNum type="arabicPeriod"/>
            </a:pP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Поиск в глубину с возвратом прорывает проходы на стеке, без рекурсии</a:t>
            </a:r>
            <a:endParaRPr lang="en-US" sz="1600" dirty="0"/>
          </a:p>
          <a:p>
            <a:pPr marL="217289" indent="-217289" algn="l">
              <a:lnSpc>
                <a:spcPts val="2240"/>
              </a:lnSpc>
              <a:buSzPct val="100000"/>
              <a:buFontTx/>
              <a:buAutoNum type="arabicPeriod"/>
            </a:pPr>
            <a:r>
              <a:rPr lang="en-US" sz="16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Мышь справа внизу, сыр слева вверху, вода и ток случайно</a:t>
            </a:r>
            <a:endParaRPr lang="en-US" sz="1600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2E088B9-BB29-B5E9-AABA-FAC254018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499" y="1464733"/>
            <a:ext cx="4294752" cy="3928533"/>
          </a:xfrm>
          <a:prstGeom prst="roundRect">
            <a:avLst>
              <a:gd name="adj" fmla="val 229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98780C39-EC9E-6006-FA37-4A47879F6D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9136" y="1719693"/>
            <a:ext cx="3373770" cy="2849495"/>
          </a:xfrm>
          <a:prstGeom prst="roundRect">
            <a:avLst>
              <a:gd name="adj" fmla="val 2800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endPos="0" dist="5000" dir="5400000" sy="-100000" algn="bl" rotWithShape="0"/>
          </a:effectLst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693822E-3F85-9D06-C2AA-12D1A4C9C0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5113" y="1728160"/>
            <a:ext cx="3381774" cy="2849495"/>
          </a:xfrm>
          <a:prstGeom prst="roundRect">
            <a:avLst>
              <a:gd name="adj" fmla="val 2132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0" dist="5000" dir="5400000" sy="-100000" algn="bl" rotWithShape="0"/>
          </a:effectLst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C8BC3C0-67B8-3857-D012-49DB6BC14F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09094" y="1719692"/>
            <a:ext cx="3367584" cy="2849495"/>
          </a:xfrm>
          <a:prstGeom prst="roundRect">
            <a:avLst>
              <a:gd name="adj" fmla="val 3246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0" dist="5000" dir="5400000" sy="-100000" algn="bl" rotWithShape="0"/>
          </a:effectLst>
        </p:spPr>
      </p:pic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0" i="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Демонстрация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812800" y="4973241"/>
            <a:ext cx="10883392" cy="282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500" dirty="0">
                <a:solidFill>
                  <a:srgbClr val="1B1F3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Результат: [число эпох до сходимости], [итоговая награда], [длина найденного пути]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b="0" i="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Анализ работы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12800" y="2553891"/>
            <a:ext cx="5258562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2B134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Потенциальные проблемы: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96620" y="2998391"/>
            <a:ext cx="516712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0180" indent="-17018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Вода съедается, а состояние (r, c) этого не помнит: возможны циклы</a:t>
            </a:r>
            <a:endParaRPr lang="en-US" sz="1500" dirty="0"/>
          </a:p>
          <a:p>
            <a:pPr marL="170180" indent="-17018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Награда за сыр затухает как γ в степени длины пути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273800" y="2553891"/>
            <a:ext cx="5258562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2B134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Выводы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357620" y="2998391"/>
            <a:ext cx="5167122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0180" indent="-17018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Реализовано Q-обучение</a:t>
            </a:r>
            <a:endParaRPr lang="en-US" sz="1500" dirty="0"/>
          </a:p>
          <a:p>
            <a:pPr marL="170180" indent="-17018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Лабиринт любого размера создаётся автоматически</a:t>
            </a:r>
            <a:endParaRPr lang="en-US" sz="1500" dirty="0"/>
          </a:p>
          <a:p>
            <a:pPr marL="170180" indent="-170180" algn="l">
              <a:lnSpc>
                <a:spcPts val="2100"/>
              </a:lnSpc>
              <a:buSzPct val="100000"/>
              <a:buChar char="•"/>
            </a:pPr>
            <a:r>
              <a:rPr lang="en-US" sz="1500" dirty="0">
                <a:solidFill>
                  <a:srgbClr val="F6F4EF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Роли классов разделены, награды и алгоритм легко менять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BEAB6F-FEC2-7D84-3D5C-AF3756AE2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2800" y="2794668"/>
            <a:ext cx="10566400" cy="1268663"/>
          </a:xfrm>
        </p:spPr>
        <p:txBody>
          <a:bodyPr anchor="ctr"/>
          <a:lstStyle/>
          <a:p>
            <a:pPr algn="ctr"/>
            <a:r>
              <a:rPr lang="ru-RU" sz="7200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955243229"/>
      </p:ext>
    </p:extLst>
  </p:cSld>
  <p:clrMapOvr>
    <a:masterClrMapping/>
  </p:clrMapOvr>
</p:sld>
</file>

<file path=ppt/theme/theme1.xml><?xml version="1.0" encoding="utf-8"?>
<a:theme xmlns:a="http://schemas.openxmlformats.org/drawingml/2006/main" name="Мышь в лабиринте: обучение с подкреплением">
  <a:themeElements>
    <a:clrScheme name="Мышь в лабиринте: обучение с подкреплением">
      <a:dk1>
        <a:srgbClr val="1B1F3A"/>
      </a:dk1>
      <a:lt1>
        <a:srgbClr val="F6F4EF"/>
      </a:lt1>
      <a:dk2>
        <a:srgbClr val="525467"/>
      </a:dk2>
      <a:lt2>
        <a:srgbClr val="E0DFDD"/>
      </a:lt2>
      <a:accent1>
        <a:srgbClr val="8A5200"/>
      </a:accent1>
      <a:accent2>
        <a:srgbClr val="F2B134"/>
      </a:accent2>
      <a:accent3>
        <a:srgbClr val="B36B00"/>
      </a:accent3>
      <a:accent4>
        <a:srgbClr val="C9C6D6"/>
      </a:accent4>
      <a:accent5>
        <a:srgbClr val="3D4255"/>
      </a:accent5>
      <a:accent6>
        <a:srgbClr val="9AA0A6"/>
      </a:accent6>
      <a:hlink>
        <a:srgbClr val="0563C1"/>
      </a:hlink>
      <a:folHlink>
        <a:srgbClr val="954F72"/>
      </a:folHlink>
    </a:clrScheme>
    <a:fontScheme name="Мышь в лабиринте: обучение с подкреплением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orgi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357</Words>
  <Application>Microsoft Office PowerPoint</Application>
  <PresentationFormat>Широкоэкранный</PresentationFormat>
  <Paragraphs>64</Paragraphs>
  <Slides>10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3" baseType="lpstr">
      <vt:lpstr>Arial</vt:lpstr>
      <vt:lpstr>Georgia</vt:lpstr>
      <vt:lpstr>Мышь в лабиринте: обучение с подкреплением</vt:lpstr>
      <vt:lpstr>Мышь в лабиринте</vt:lpstr>
      <vt:lpstr>Проблема и подход</vt:lpstr>
      <vt:lpstr>Награды среды</vt:lpstr>
      <vt:lpstr>Q-обучение</vt:lpstr>
      <vt:lpstr>Архитектура</vt:lpstr>
      <vt:lpstr>Один шаг обучения</vt:lpstr>
      <vt:lpstr>Генерация лабиринта</vt:lpstr>
      <vt:lpstr>Демонстрация</vt:lpstr>
      <vt:lpstr>Анализ работы</vt:lpstr>
      <vt:lpstr>Спасибо за внимание!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Мышь в лабиринте: обучение с подкреплением</dc:title>
  <dc:subject/>
  <dc:creator/>
  <cp:lastModifiedBy>alex</cp:lastModifiedBy>
  <cp:revision>2</cp:revision>
  <dcterms:created xsi:type="dcterms:W3CDTF">2026-10-15T10:21:38Z</dcterms:created>
  <dcterms:modified xsi:type="dcterms:W3CDTF">2026-10-15T10:42:42Z</dcterms:modified>
</cp:coreProperties>
</file>
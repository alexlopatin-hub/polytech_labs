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1" r:id="rId9"/>
    <p:sldId id="262" r:id="rId10"/>
    <p:sldId id="268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2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02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8CCF-F3B9-95A0-634E-171708BF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50E37-5A3A-43A7-8CEA-164D2A452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BC766-300B-3181-673C-511EE4ED4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AE36-ED6B-0971-5AF3-0E23474AD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29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5DE1-76C6-B09F-BE7E-55C0BA4D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13475-8C76-2C4A-0CAE-024142C32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8CD84-63C0-BD37-F5E7-C56189FA0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598DC-4E6C-CC35-2CAD-9B469A457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67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5CD5-6BDC-06CB-B7FF-DA32721F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2C024-2130-EF5B-CC5D-044C44F36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53550-DA3C-57A1-F17D-F9BD2F223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E053-DF47-7B81-599E-6A0F2259DB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89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49942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Мышь в лабиринте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44676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2B1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ООП на языке на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40918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Лабораторная работа 2,  Лопатин А.В. · гр. 5130902/40202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Проблема и подход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89508" y="2260600"/>
            <a:ext cx="5076127" cy="230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Мышь ищет сыр в лабиринте и не знает его карты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На каждом шаге она выбирает направление, а среда сообщает выигрыш или проигрыш: это подкрепление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Цель: найти маршрут с максимальной суммарной наградой, к сыру через воду и в обход тока</a:t>
            </a: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DDEAFF-834A-B396-9280-6B0E21057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86" t="2296" r="12871" b="5893"/>
          <a:stretch>
            <a:fillRect/>
          </a:stretch>
        </p:blipFill>
        <p:spPr>
          <a:xfrm>
            <a:off x="6988413" y="1854200"/>
            <a:ext cx="3508138" cy="4070350"/>
          </a:xfrm>
          <a:prstGeom prst="roundRect">
            <a:avLst>
              <a:gd name="adj" fmla="val 601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Награды среды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2482850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73150" y="1880791"/>
            <a:ext cx="20275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36B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+10^7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3150" y="2439591"/>
            <a:ext cx="202755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Сыр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833291"/>
            <a:ext cx="20275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D425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Главная награда, эпизод заканчивается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8375" y="1623616"/>
            <a:ext cx="2482850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765550" y="1880791"/>
            <a:ext cx="20275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36B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+10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65550" y="2439591"/>
            <a:ext cx="202755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Вода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65550" y="2833291"/>
            <a:ext cx="202755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D425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Небольшая награда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0775" y="1623616"/>
            <a:ext cx="2482850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57950" y="1880791"/>
            <a:ext cx="20275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36B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−10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57950" y="2439591"/>
            <a:ext cx="202755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Шок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7950" y="2833291"/>
            <a:ext cx="202755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D425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Штраф за травму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93175" y="1623616"/>
            <a:ext cx="2482850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150350" y="1880791"/>
            <a:ext cx="202755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36B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−1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50350" y="2439591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Пустая клетка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50350" y="2833291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D425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Штраф за каждый шаг, чтобы путь был короче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4169966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Агент учится максимизировать сумму наград за эпизод, а не отдельный выигрыш.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Q-обучение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27151"/>
            <a:ext cx="10883392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80"/>
              </a:lnSpc>
              <a:buNone/>
            </a:pPr>
            <a:r>
              <a:rPr lang="en-US" sz="2600" dirty="0">
                <a:solidFill>
                  <a:srgbClr val="F2B1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Q(s,a) += α · (r + γ · max Q(s′,·) − Q(s,a))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861171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Q-таблица хранит ценность каждого из 4 действий в каждой клетке лабиринта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423146"/>
            <a:ext cx="34882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α = 0,5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791446"/>
            <a:ext cx="348823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Скорость обучения: насколько новый опыт вытесняет старый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02634" y="3423146"/>
            <a:ext cx="348833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γ = 0,9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02634" y="3791446"/>
            <a:ext cx="3488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Дисконт: насколько важны награды в будущем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92566" y="3423146"/>
            <a:ext cx="34882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ε = 0,1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92566" y="3791446"/>
            <a:ext cx="348823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Доля случайных ходов, чтобы исследовать лабиринт</a:t>
            </a:r>
            <a:endParaRPr lang="en-US" sz="15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30ACA15-835F-5D65-D054-466657971606}"/>
              </a:ext>
            </a:extLst>
          </p:cNvPr>
          <p:cNvSpPr/>
          <p:nvPr/>
        </p:nvSpPr>
        <p:spPr>
          <a:xfrm>
            <a:off x="812800" y="1790899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ru-RU" b="1" dirty="0">
                <a:solidFill>
                  <a:srgbClr val="C9C6D6"/>
                </a:solidFill>
                <a:latin typeface="Georgia" pitchFamily="18" charset="0"/>
              </a:rPr>
              <a:t>Формула Беллмана:</a:t>
            </a:r>
            <a:endParaRPr lang="en-US" b="1" dirty="0">
              <a:solidFill>
                <a:srgbClr val="C9C6D6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600" dirty="0"/>
              <a:t>Диаграмма прецедентов</a:t>
            </a:r>
            <a:endParaRPr lang="en-US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C76DA2-37D5-A7F8-350B-A85E164654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82" y="1813521"/>
            <a:ext cx="10453236" cy="43399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33C85-59DB-7169-E452-BEB75A0F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0C64EA-B900-D30A-E650-79159C33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600" dirty="0"/>
              <a:t>Диаграмма </a:t>
            </a:r>
            <a:r>
              <a:rPr lang="ru-RU" dirty="0"/>
              <a:t>состояний</a:t>
            </a:r>
            <a:endParaRPr lang="en-US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681316-48EA-72D6-E489-3D9D4A358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253" y="1734989"/>
            <a:ext cx="6754760" cy="45489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307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6EEE7-9675-12DB-E224-EF674EB1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319285-FD39-6323-315E-53AE1CED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Архитектура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233203-6C0D-B335-43C3-E86D4C36CD08}"/>
              </a:ext>
            </a:extLst>
          </p:cNvPr>
          <p:cNvSpPr/>
          <p:nvPr/>
        </p:nvSpPr>
        <p:spPr>
          <a:xfrm>
            <a:off x="684108" y="2408327"/>
            <a:ext cx="4666825" cy="294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7292" indent="-177292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Maze, </a:t>
            </a:r>
            <a:r>
              <a:rPr lang="en-US" sz="1600" b="1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MazeGenerator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отвечает за 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лабиринт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и 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его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генераци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ю</a:t>
            </a:r>
          </a:p>
          <a:p>
            <a:pPr marL="177292" indent="-177292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Environment</a:t>
            </a:r>
            <a:r>
              <a:rPr lang="ru-RU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шаги, награды, 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эпохи</a:t>
            </a:r>
            <a:endParaRPr lang="ru-RU" sz="1600" dirty="0">
              <a:solidFill>
                <a:srgbClr val="1B1F3A"/>
              </a:solidFill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 marL="177292" indent="-177292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Agent, Policy</a:t>
            </a:r>
            <a:r>
              <a:rPr lang="ru-RU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</a:t>
            </a:r>
            <a:r>
              <a:rPr lang="ru-RU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выбор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действия и 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формирование 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Q-</a:t>
            </a:r>
            <a:r>
              <a:rPr lang="en-US" sz="16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таблиц</a:t>
            </a:r>
            <a:r>
              <a:rPr lang="ru-RU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ы</a:t>
            </a:r>
          </a:p>
          <a:p>
            <a:pPr marL="177292" indent="-177292" algn="l">
              <a:lnSpc>
                <a:spcPct val="1500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MazeTrainerFrame</a:t>
            </a:r>
            <a:r>
              <a:rPr lang="en-US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</a:t>
            </a:r>
            <a:r>
              <a:rPr lang="en-US" sz="1600" b="1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MazePanel</a:t>
            </a:r>
            <a:r>
              <a:rPr lang="ru-RU" sz="1600" b="1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–</a:t>
            </a:r>
            <a:r>
              <a:rPr lang="en-US" sz="16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окно и отрисовка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FE5FEA-CB1B-19B2-3015-79D019471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592" y="1476508"/>
            <a:ext cx="5252900" cy="4804978"/>
          </a:xfrm>
          <a:prstGeom prst="roundRect">
            <a:avLst>
              <a:gd name="adj" fmla="val 229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6083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600" b="0" i="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Диаграмма деятельности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5429" y="1626592"/>
            <a:ext cx="4492371" cy="360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Среда находит 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доступные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ходы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гент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выбирает 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действие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ε-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жадно</a:t>
            </a:r>
            <a:endParaRPr lang="ru-RU" sz="2000" dirty="0">
              <a:solidFill>
                <a:srgbClr val="1B1F3A"/>
              </a:solidFill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реда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выдаёт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награду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Q-</a:t>
            </a:r>
            <a:r>
              <a:rPr lang="en-US" sz="2000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таблица</a:t>
            </a:r>
            <a:r>
              <a:rPr lang="en-US" sz="20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обновляется.</a:t>
            </a:r>
            <a:endParaRPr lang="en-US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254567-1044-3F4C-5791-AF9D5FA5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610" y="812800"/>
            <a:ext cx="5076582" cy="5573521"/>
          </a:xfrm>
          <a:prstGeom prst="roundRect">
            <a:avLst>
              <a:gd name="adj" fmla="val 496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Генерация лабиринта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9511" y="2305858"/>
            <a:ext cx="5116124" cy="2954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Сетка (2·rows+1) × (2·cols+1): комнаты и стены</a:t>
            </a:r>
            <a:endParaRPr lang="en-US" dirty="0"/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Поиск в глубину с возвратом прорывает проходы на стеке, без рекурсии</a:t>
            </a:r>
            <a:endParaRPr lang="en-US" dirty="0"/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Мышь справа внизу, сыр слева вверху, вода и </a:t>
            </a:r>
            <a:r>
              <a:rPr lang="en-US" dirty="0" err="1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ток</a:t>
            </a:r>
            <a:r>
              <a:rPr lang="ru-RU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располагаются</a:t>
            </a:r>
            <a:r>
              <a:rPr lang="en-US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случайно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FE245D-4D00-801F-FE55-2EE12825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176"/>
          <a:stretch>
            <a:fillRect/>
          </a:stretch>
        </p:blipFill>
        <p:spPr>
          <a:xfrm>
            <a:off x="6454988" y="1930319"/>
            <a:ext cx="5317066" cy="3951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16D22-B8B7-24BE-AF2E-901CC99C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D5D75B-24FC-6403-7F3A-89C11CD1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600" dirty="0"/>
              <a:t>Диаграмма </a:t>
            </a:r>
            <a:r>
              <a:rPr lang="ru-RU" dirty="0"/>
              <a:t>классов</a:t>
            </a:r>
            <a:endParaRPr lang="en-US" sz="3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F38E79-E19A-91DB-3FC4-1F185B865C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17806"/>
            <a:ext cx="4969309" cy="6012041"/>
          </a:xfrm>
          <a:prstGeom prst="roundRect">
            <a:avLst>
              <a:gd name="adj" fmla="val 201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6141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8780C39-EC9E-6006-FA37-4A47879F6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36" y="1719693"/>
            <a:ext cx="3373770" cy="2849495"/>
          </a:xfrm>
          <a:prstGeom prst="roundRect">
            <a:avLst>
              <a:gd name="adj" fmla="val 28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endPos="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93822E-3F85-9D06-C2AA-12D1A4C9C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113" y="1728160"/>
            <a:ext cx="3381774" cy="2849495"/>
          </a:xfrm>
          <a:prstGeom prst="roundRect">
            <a:avLst>
              <a:gd name="adj" fmla="val 213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8BC3C0-67B8-3857-D012-49DB6BC14F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9094" y="1719692"/>
            <a:ext cx="3367584" cy="2849495"/>
          </a:xfrm>
          <a:prstGeom prst="roundRect">
            <a:avLst>
              <a:gd name="adj" fmla="val 324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Демонстрация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4973241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1F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Результат: [число эпох до сходимости], [итоговая награда], [длина найденного пути]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Анализ работы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800" y="2553891"/>
            <a:ext cx="52585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Потенциальные проблемы: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620" y="2998391"/>
            <a:ext cx="51671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Вода съедается, а состояние (r, c) этого не помнит: возможны циклы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Награда за сыр затухает как γ в степени длины пути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73800" y="2553891"/>
            <a:ext cx="52585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2B13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Выводы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7620" y="2998391"/>
            <a:ext cx="516712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Реализовано Q-обучение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Лабиринт любого размера создаётся автоматически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Роли классов разделены, награды и алгоритм легко менять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EAB6F-FEC2-7D84-3D5C-AF3756AE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94668"/>
            <a:ext cx="10566400" cy="1268663"/>
          </a:xfrm>
        </p:spPr>
        <p:txBody>
          <a:bodyPr anchor="ctr"/>
          <a:lstStyle/>
          <a:p>
            <a:pPr algn="ctr"/>
            <a:r>
              <a:rPr lang="ru-RU" sz="72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955243229"/>
      </p:ext>
    </p:extLst>
  </p:cSld>
  <p:clrMapOvr>
    <a:masterClrMapping/>
  </p:clrMapOvr>
</p:sld>
</file>

<file path=ppt/theme/theme1.xml><?xml version="1.0" encoding="utf-8"?>
<a:theme xmlns:a="http://schemas.openxmlformats.org/drawingml/2006/main" name="Мышь в лабиринте: обучение с подкреплением">
  <a:themeElements>
    <a:clrScheme name="Мышь в лабиринте: обучение с подкреплением">
      <a:dk1>
        <a:srgbClr val="1B1F3A"/>
      </a:dk1>
      <a:lt1>
        <a:srgbClr val="F6F4EF"/>
      </a:lt1>
      <a:dk2>
        <a:srgbClr val="525467"/>
      </a:dk2>
      <a:lt2>
        <a:srgbClr val="E0DFDD"/>
      </a:lt2>
      <a:accent1>
        <a:srgbClr val="8A5200"/>
      </a:accent1>
      <a:accent2>
        <a:srgbClr val="F2B134"/>
      </a:accent2>
      <a:accent3>
        <a:srgbClr val="B36B00"/>
      </a:accent3>
      <a:accent4>
        <a:srgbClr val="C9C6D6"/>
      </a:accent4>
      <a:accent5>
        <a:srgbClr val="3D4255"/>
      </a:accent5>
      <a:accent6>
        <a:srgbClr val="9AA0A6"/>
      </a:accent6>
      <a:hlink>
        <a:srgbClr val="0563C1"/>
      </a:hlink>
      <a:folHlink>
        <a:srgbClr val="954F72"/>
      </a:folHlink>
    </a:clrScheme>
    <a:fontScheme name="Мышь в лабиринте: обучение с подкреплением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373</Words>
  <Application>Microsoft Office PowerPoint</Application>
  <PresentationFormat>Широкоэкранный</PresentationFormat>
  <Paragraphs>71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Georgia</vt:lpstr>
      <vt:lpstr>Мышь в лабиринте: обучение с подкреплением</vt:lpstr>
      <vt:lpstr>Мышь в лабиринте</vt:lpstr>
      <vt:lpstr>Проблема и подход</vt:lpstr>
      <vt:lpstr>Награды среды</vt:lpstr>
      <vt:lpstr>Q-обучение</vt:lpstr>
      <vt:lpstr>Диаграмма прецедентов</vt:lpstr>
      <vt:lpstr>Диаграмма состояний</vt:lpstr>
      <vt:lpstr>Архитектура</vt:lpstr>
      <vt:lpstr>Диаграмма деятельности</vt:lpstr>
      <vt:lpstr>Генерация лабиринта</vt:lpstr>
      <vt:lpstr>Диаграмма классов</vt:lpstr>
      <vt:lpstr>Демонстрация</vt:lpstr>
      <vt:lpstr>Анализ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Мышь в лабиринте: обучение с подкреплением</dc:title>
  <dc:subject/>
  <dc:creator/>
  <cp:lastModifiedBy>alex</cp:lastModifiedBy>
  <cp:revision>7</cp:revision>
  <dcterms:created xsi:type="dcterms:W3CDTF">2026-10-15T10:21:38Z</dcterms:created>
  <dcterms:modified xsi:type="dcterms:W3CDTF">2026-10-22T09:30:22Z</dcterms:modified>
</cp:coreProperties>
</file>